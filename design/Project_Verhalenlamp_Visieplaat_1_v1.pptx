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3F24"/>
          </a:solidFill>
          <a:ln w="12700">
            <a:solidFill>
              <a:srgbClr val="9B3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3F24"/>
          </a:solidFill>
          <a:ln w="12700">
            <a:solidFill>
              <a:srgbClr val="9B3F24"/>
            </a:solidFill>
            <a:prstDash val="solid"/>
          </a:ln>
        </p:spPr>
      </p:sp>
      <p:pic>
        <p:nvPicPr>
          <p:cNvPr id="4" name="Image 0" descr="/mnt/data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398422"/>
            <a:ext cx="1417320" cy="373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201168"/>
            <a:ext cx="61264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VERHALENLAMP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901952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interactieve tijdreis door het Gelders Smalspoormuseum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104120" y="292608"/>
            <a:ext cx="1508760" cy="256032"/>
          </a:xfrm>
          <a:prstGeom prst="roundRect">
            <a:avLst>
              <a:gd name="adj" fmla="val 25000"/>
            </a:avLst>
          </a:prstGeom>
          <a:solidFill>
            <a:srgbClr val="4B6B43"/>
          </a:solidFill>
          <a:ln w="12700">
            <a:solidFill>
              <a:srgbClr val="4B6B4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68128" y="320040"/>
            <a:ext cx="13807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VISIEPLAAT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0312" y="987552"/>
            <a:ext cx="3831336" cy="1271016"/>
          </a:xfrm>
          <a:prstGeom prst="rect">
            <a:avLst/>
          </a:prstGeom>
          <a:solidFill>
            <a:srgbClr val="FFFFFF"/>
          </a:solidFill>
          <a:ln w="7620">
            <a:solidFill>
              <a:srgbClr val="8A6B4F"/>
            </a:solidFill>
            <a:prstDash val="solid"/>
          </a:ln>
        </p:spPr>
      </p:sp>
      <p:pic>
        <p:nvPicPr>
          <p:cNvPr id="10" name="Image 1" descr="/mnt/data/Steenbakkerij Zilverschoon Randwijk-00.06.18.716.jpg">    </p:cNvPr>
          <p:cNvPicPr>
            <a:picLocks noChangeAspect="1"/>
          </p:cNvPicPr>
          <p:nvPr/>
        </p:nvPicPr>
        <p:blipFill>
          <a:blip r:embed="rId2"/>
          <a:srcRect l="0" r="0" t="21084" b="21084"/>
          <a:stretch/>
        </p:blipFill>
        <p:spPr>
          <a:xfrm>
            <a:off x="228600" y="1005840"/>
            <a:ext cx="3794760" cy="1234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8600" y="1938528"/>
            <a:ext cx="3794760" cy="30175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" y="2011680"/>
            <a:ext cx="349300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echte locatie als vertrekpunt: steenfabriek, spoor, kleiputten en museumroute.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4251960" y="1005840"/>
            <a:ext cx="4572000" cy="3840480"/>
          </a:xfrm>
          <a:prstGeom prst="roundRect">
            <a:avLst>
              <a:gd name="adj" fmla="val 1190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62272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route wordt gekoppeld aan de werkelijke plattegrond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62272" y="1472184"/>
            <a:ext cx="4114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losse filmpjes: elke QR-code hoort bij een plek, object of verhaal op het terrein.</a:t>
            </a:r>
            <a:endParaRPr lang="en-US" sz="970" dirty="0"/>
          </a:p>
        </p:txBody>
      </p:sp>
      <p:pic>
        <p:nvPicPr>
          <p:cNvPr id="16" name="Image 2" descr="/mnt/data/Scherm­afbeelding 2026-07-19 om 16.02.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100" y="1810512"/>
            <a:ext cx="3212000" cy="2487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62272" y="4416552"/>
            <a:ext cx="404164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op: in deze visieplaat gebruiken we de officiële plattegrond als basis; exacte QR-haltes worden in plaat 2 vastgelegd.</a:t>
            </a:r>
            <a:endParaRPr lang="en-US" sz="840" dirty="0"/>
          </a:p>
        </p:txBody>
      </p:sp>
      <p:sp>
        <p:nvSpPr>
          <p:cNvPr id="18" name="Shape 13"/>
          <p:cNvSpPr/>
          <p:nvPr/>
        </p:nvSpPr>
        <p:spPr>
          <a:xfrm>
            <a:off x="228600" y="2487168"/>
            <a:ext cx="3794760" cy="3429000"/>
          </a:xfrm>
          <a:prstGeom prst="roundRect">
            <a:avLst>
              <a:gd name="adj" fmla="val 1333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5488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Verhalenlamp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75488" y="3044952"/>
            <a:ext cx="1874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Bezoekers krijgen geen app, maar een tastbaar object in de sfeer van het museum.</a:t>
            </a:r>
            <a:endParaRPr lang="en-US" sz="1050" dirty="0"/>
          </a:p>
        </p:txBody>
      </p:sp>
      <p:pic>
        <p:nvPicPr>
          <p:cNvPr id="21" name="Image 3" descr="/mnt/data/9F8500BD-09E0-4082-907C-58CAD9D18CEA.jpeg">    </p:cNvPr>
          <p:cNvPicPr>
            <a:picLocks noChangeAspect="1"/>
          </p:cNvPicPr>
          <p:nvPr/>
        </p:nvPicPr>
        <p:blipFill>
          <a:blip r:embed="rId4"/>
          <a:srcRect l="30000" r="14982" t="8000" b="8000"/>
          <a:stretch/>
        </p:blipFill>
        <p:spPr>
          <a:xfrm>
            <a:off x="2761488" y="2651760"/>
            <a:ext cx="960120" cy="2606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75488" y="3675888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9B3F24"/>
          </a:solidFill>
          <a:ln w="12700">
            <a:solidFill>
              <a:srgbClr val="9B3F24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39496" y="3703320"/>
            <a:ext cx="8321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QR-scanner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1536192" y="367588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426C7D"/>
          </a:solidFill>
          <a:ln w="12700">
            <a:solidFill>
              <a:srgbClr val="426C7D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600200" y="3703320"/>
            <a:ext cx="6949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SD-kaart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5488" y="4041648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4B6B43"/>
          </a:solidFill>
          <a:ln w="12700">
            <a:solidFill>
              <a:srgbClr val="4B6B43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9496" y="4069080"/>
            <a:ext cx="62179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1325880" y="4041648"/>
            <a:ext cx="685800" cy="256032"/>
          </a:xfrm>
          <a:prstGeom prst="roundRect">
            <a:avLst>
              <a:gd name="adj" fmla="val 25000"/>
            </a:avLst>
          </a:prstGeom>
          <a:solidFill>
            <a:srgbClr val="B66A3D"/>
          </a:solidFill>
          <a:ln w="12700">
            <a:solidFill>
              <a:srgbClr val="B66A3D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389888" y="4069080"/>
            <a:ext cx="5577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Beeld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75488" y="4407408"/>
            <a:ext cx="1143000" cy="256032"/>
          </a:xfrm>
          <a:prstGeom prst="roundRect">
            <a:avLst>
              <a:gd name="adj" fmla="val 25000"/>
            </a:avLst>
          </a:prstGeom>
          <a:solidFill>
            <a:srgbClr val="35312C"/>
          </a:solidFill>
          <a:ln w="12700">
            <a:solidFill>
              <a:srgbClr val="35312C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9496" y="4434840"/>
            <a:ext cx="10149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offline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75488" y="4846320"/>
            <a:ext cx="18745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Robuust, lokaal en onafhankelijk van WiFi: geschikt voor drukke dagen, scholen en evenementen.</a:t>
            </a:r>
            <a:endParaRPr lang="en-US" sz="1020" dirty="0"/>
          </a:p>
        </p:txBody>
      </p:sp>
      <p:sp>
        <p:nvSpPr>
          <p:cNvPr id="33" name="Shape 27"/>
          <p:cNvSpPr/>
          <p:nvPr/>
        </p:nvSpPr>
        <p:spPr>
          <a:xfrm>
            <a:off x="9052560" y="1005840"/>
            <a:ext cx="2880360" cy="1115568"/>
          </a:xfrm>
          <a:prstGeom prst="roundRect">
            <a:avLst>
              <a:gd name="adj" fmla="val 4098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125712" y="1097280"/>
            <a:ext cx="73152" cy="932688"/>
          </a:xfrm>
          <a:prstGeom prst="rect">
            <a:avLst/>
          </a:prstGeom>
          <a:solidFill>
            <a:srgbClr val="9B3F24"/>
          </a:solidFill>
          <a:ln w="12700">
            <a:solidFill>
              <a:srgbClr val="9B3F24">
                <a:alpha val="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08592" y="1124712"/>
            <a:ext cx="24688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Waarom?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308592" y="1417320"/>
            <a:ext cx="24688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Bezoekers kijken niet alleen naar locomotieven; ze ontdekken waarom smalspoor onmisbaar was voor mensen, werk en landschap.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052560" y="2304288"/>
            <a:ext cx="2880360" cy="1115568"/>
          </a:xfrm>
          <a:prstGeom prst="roundRect">
            <a:avLst>
              <a:gd name="adj" fmla="val 4098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125712" y="2395728"/>
            <a:ext cx="73152" cy="932688"/>
          </a:xfrm>
          <a:prstGeom prst="rect">
            <a:avLst/>
          </a:prstGeom>
          <a:solidFill>
            <a:srgbClr val="4B6B43"/>
          </a:solidFill>
          <a:ln w="12700">
            <a:solidFill>
              <a:srgbClr val="4B6B43">
                <a:alpha val="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308592" y="2423160"/>
            <a:ext cx="24688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 wie?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9308592" y="2715768"/>
            <a:ext cx="24688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Spoorzoekers: korte opdrachten.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Ontdekkers: historische context.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Liefhebbers: technische verdieping.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9052560" y="3602736"/>
            <a:ext cx="2880360" cy="1243584"/>
          </a:xfrm>
          <a:prstGeom prst="roundRect">
            <a:avLst>
              <a:gd name="adj" fmla="val 3676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125712" y="3694176"/>
            <a:ext cx="73152" cy="1060704"/>
          </a:xfrm>
          <a:prstGeom prst="rect">
            <a:avLst/>
          </a:prstGeom>
          <a:solidFill>
            <a:srgbClr val="426C7D"/>
          </a:solidFill>
          <a:ln w="12700">
            <a:solidFill>
              <a:srgbClr val="426C7D">
                <a:alpha val="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308592" y="3721608"/>
            <a:ext cx="24688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levert het op?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9308592" y="4014216"/>
            <a:ext cx="24688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Eén herkenbare verhaallijn voor bezoekers, rondleiders, scholen, vrijwilligers, subsidiegevers en nieuwe media.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251960" y="5102352"/>
            <a:ext cx="7680960" cy="822960"/>
          </a:xfrm>
          <a:prstGeom prst="roundRect">
            <a:avLst>
              <a:gd name="adj" fmla="val 5556"/>
            </a:avLst>
          </a:prstGeom>
          <a:solidFill>
            <a:srgbClr val="FFF8EA"/>
          </a:solidFill>
          <a:ln w="13970">
            <a:solidFill>
              <a:srgbClr val="8A6B4F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462272" y="5239512"/>
            <a:ext cx="1417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Drie rode draden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6217920" y="52303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9B3F24"/>
          </a:solidFill>
          <a:ln w="12700">
            <a:solidFill>
              <a:srgbClr val="9B3F24">
                <a:alpha val="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281928" y="5257800"/>
            <a:ext cx="5852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7022592" y="5248656"/>
            <a:ext cx="10789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werk, gezin, kinderen</a:t>
            </a:r>
            <a:endParaRPr lang="en-US" sz="910" dirty="0"/>
          </a:p>
        </p:txBody>
      </p:sp>
      <p:sp>
        <p:nvSpPr>
          <p:cNvPr id="50" name="Shape 44"/>
          <p:cNvSpPr/>
          <p:nvPr/>
        </p:nvSpPr>
        <p:spPr>
          <a:xfrm>
            <a:off x="8183880" y="5230368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4B6B43"/>
          </a:solidFill>
          <a:ln w="12700">
            <a:solidFill>
              <a:srgbClr val="4B6B43">
                <a:alpha val="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247888" y="5257800"/>
            <a:ext cx="877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TECHNIEK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9281160" y="5248656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klei, oven, spoor</a:t>
            </a:r>
            <a:endParaRPr lang="en-US" sz="910" dirty="0"/>
          </a:p>
        </p:txBody>
      </p:sp>
      <p:sp>
        <p:nvSpPr>
          <p:cNvPr id="53" name="Shape 47"/>
          <p:cNvSpPr/>
          <p:nvPr/>
        </p:nvSpPr>
        <p:spPr>
          <a:xfrm>
            <a:off x="10469880" y="5230368"/>
            <a:ext cx="1078992" cy="256032"/>
          </a:xfrm>
          <a:prstGeom prst="roundRect">
            <a:avLst>
              <a:gd name="adj" fmla="val 25000"/>
            </a:avLst>
          </a:prstGeom>
          <a:solidFill>
            <a:srgbClr val="426C7D"/>
          </a:solidFill>
          <a:ln w="12700">
            <a:solidFill>
              <a:srgbClr val="426C7D">
                <a:alpha val="0"/>
              </a:srgbClr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10533888" y="5257800"/>
            <a:ext cx="9509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LANDSCHAP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10469880" y="5532120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rivier en kleiput</a:t>
            </a:r>
            <a:endParaRPr lang="en-US" sz="820" dirty="0"/>
          </a:p>
        </p:txBody>
      </p:sp>
      <p:sp>
        <p:nvSpPr>
          <p:cNvPr id="56" name="Shape 50"/>
          <p:cNvSpPr/>
          <p:nvPr/>
        </p:nvSpPr>
        <p:spPr>
          <a:xfrm>
            <a:off x="210312" y="6108192"/>
            <a:ext cx="154533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8A6B4F"/>
            </a:solidFill>
            <a:prstDash val="solid"/>
          </a:ln>
        </p:spPr>
      </p:sp>
      <p:pic>
        <p:nvPicPr>
          <p:cNvPr id="57" name="Image 4" descr="/mnt/data/Steenbakkerij Zilverschoon Randwijk-00.00.31.381.jpg">    </p:cNvPr>
          <p:cNvPicPr>
            <a:picLocks noChangeAspect="1"/>
          </p:cNvPicPr>
          <p:nvPr/>
        </p:nvPicPr>
        <p:blipFill>
          <a:blip r:embed="rId5"/>
          <a:srcRect l="0" r="0" t="27374" b="27374"/>
          <a:stretch/>
        </p:blipFill>
        <p:spPr>
          <a:xfrm>
            <a:off x="228600" y="6126480"/>
            <a:ext cx="1508760" cy="384048"/>
          </a:xfrm>
          <a:prstGeom prst="rect">
            <a:avLst/>
          </a:prstGeom>
        </p:spPr>
      </p:pic>
      <p:sp>
        <p:nvSpPr>
          <p:cNvPr id="58" name="Shape 51"/>
          <p:cNvSpPr/>
          <p:nvPr/>
        </p:nvSpPr>
        <p:spPr>
          <a:xfrm>
            <a:off x="1810512" y="6108192"/>
            <a:ext cx="154533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8A6B4F"/>
            </a:solidFill>
            <a:prstDash val="solid"/>
          </a:ln>
        </p:spPr>
      </p:sp>
      <p:pic>
        <p:nvPicPr>
          <p:cNvPr id="59" name="Image 5" descr="/mnt/data/Steenbakkerij Zilverschoon Randwijk-00.01.54.216.jpg">    </p:cNvPr>
          <p:cNvPicPr>
            <a:picLocks noChangeAspect="1"/>
          </p:cNvPicPr>
          <p:nvPr/>
        </p:nvPicPr>
        <p:blipFill>
          <a:blip r:embed="rId6"/>
          <a:srcRect l="0" r="0" t="27374" b="27374"/>
          <a:stretch/>
        </p:blipFill>
        <p:spPr>
          <a:xfrm>
            <a:off x="1828800" y="6126480"/>
            <a:ext cx="1508760" cy="384048"/>
          </a:xfrm>
          <a:prstGeom prst="rect">
            <a:avLst/>
          </a:prstGeom>
        </p:spPr>
      </p:pic>
      <p:sp>
        <p:nvSpPr>
          <p:cNvPr id="60" name="Shape 52"/>
          <p:cNvSpPr/>
          <p:nvPr/>
        </p:nvSpPr>
        <p:spPr>
          <a:xfrm>
            <a:off x="3410712" y="6108192"/>
            <a:ext cx="154533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8A6B4F"/>
            </a:solidFill>
            <a:prstDash val="solid"/>
          </a:ln>
        </p:spPr>
      </p:sp>
      <p:pic>
        <p:nvPicPr>
          <p:cNvPr id="61" name="Image 6" descr="/mnt/data/Steenbakkerij Zilverschoon Randwijk-00.00.23.760.jpg">    </p:cNvPr>
          <p:cNvPicPr>
            <a:picLocks noChangeAspect="1"/>
          </p:cNvPicPr>
          <p:nvPr/>
        </p:nvPicPr>
        <p:blipFill>
          <a:blip r:embed="rId7"/>
          <a:srcRect l="0" r="0" t="27374" b="27374"/>
          <a:stretch/>
        </p:blipFill>
        <p:spPr>
          <a:xfrm>
            <a:off x="3429000" y="6126480"/>
            <a:ext cx="1508760" cy="384048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5230368" y="6062472"/>
            <a:ext cx="45720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2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bouwen geen audiotour. We bouwen een tijdmachine.”</a:t>
            </a:r>
            <a:endParaRPr lang="en-US" sz="1800" dirty="0"/>
          </a:p>
        </p:txBody>
      </p:sp>
      <p:sp>
        <p:nvSpPr>
          <p:cNvPr id="63" name="Text 54"/>
          <p:cNvSpPr/>
          <p:nvPr/>
        </p:nvSpPr>
        <p:spPr>
          <a:xfrm>
            <a:off x="10241280" y="6272784"/>
            <a:ext cx="1508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D5C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• ontwerpbestand voor bespreking museumteam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Gelders Smalspoormuseum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Verhalenlamp - Visieposter v1</dc:title>
  <dc:subject>Project Verhalenlamp - Visieposter</dc:subject>
  <dc:creator>OpenAI</dc:creator>
  <cp:lastModifiedBy>OpenAI</cp:lastModifiedBy>
  <cp:revision>1</cp:revision>
  <dcterms:created xsi:type="dcterms:W3CDTF">2026-07-19T15:09:14Z</dcterms:created>
  <dcterms:modified xsi:type="dcterms:W3CDTF">2026-07-19T15:09:14Z</dcterms:modified>
</cp:coreProperties>
</file>